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mbria"/>
              </a:rPr>
              <a:t>Test Case Pass Rate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Unit</c:v>
                  </c:pt>
                  <c:pt idx="1">
                    <c:v>Integration</c:v>
                  </c:pt>
                  <c:pt idx="2">
                    <c:v>System</c:v>
                  </c:pt>
                  <c:pt idx="3">
                    <c:v>Accuracy</c:v>
                  </c:pt>
                  <c:pt idx="4">
                    <c:v>Alerts</c:v>
                  </c:pt>
                  <c:pt idx="5">
                    <c:v>Load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95</c:v>
                </c:pt>
                <c:pt idx="2">
                  <c:v>93</c:v>
                </c:pt>
                <c:pt idx="3">
                  <c:v>96</c:v>
                </c:pt>
                <c:pt idx="4">
                  <c:v>97</c:v>
                </c:pt>
                <c:pt idx="5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1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AFC"/>
        </a:solidFill>
        <a:ln>
          <a:noFill/>
        </a:ln>
        <a:effectLst/>
      </c:spPr>
    </c:plotArea>
    <c:plotVisOnly val="1"/>
    <c:dispBlanksAs val="span"/>
  </c:chart>
  <c:spPr>
    <a:solidFill>
      <a:srgbClr val="F7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VILLAGE INITIATIVE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Water Monitoring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for Villages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water tracking, leak &amp; anomaly detection, and fair distribution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IoT sensing, Artificial Intelligence, and Data Science.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2194560" cy="0"/>
          </a:xfrm>
          <a:prstGeom prst="line">
            <a:avLst/>
          </a:prstGeom>
          <a:noFill/>
          <a:ln w="31750">
            <a:solidFill>
              <a:srgbClr val="5FCB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&amp; Presentation  |  Preparation • Design • Implementation •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12264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122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Background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0487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villages need smart water monitoring today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7830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02552" y="2112264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702552" y="21122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0" y="1984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0" y="240487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this system is designed to achieve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94176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5661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98678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study, feasibility &amp; planning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364992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2552" y="3694176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36941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35661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0" y="398678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combining IoT, AI &amp; Data Science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46904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276088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2760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91640" y="514807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568696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 stack &amp; workflow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946904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02552" y="5276088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702552" y="52760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89520" y="514807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0" y="5568696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 and outcomes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Is Scarce, But Usage Isn't Tracked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face growing water shortages, yet most households have no way to see how much water they use. Leaks and overuse go unnoticed, cutting into supply for neighboring families — especially in summer and drought.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4864" cy="502920"/>
          </a:xfrm>
          <a:prstGeom prst="rect">
            <a:avLst/>
          </a:prstGeom>
          <a:solidFill>
            <a:srgbClr val="5FCBB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97480" y="3383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can't see daily consumption or spot leaks early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4864" cy="502920"/>
          </a:xfrm>
          <a:prstGeom prst="rect">
            <a:avLst/>
          </a:prstGeom>
          <a:solidFill>
            <a:srgbClr val="5FCBB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97480" y="4160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can't monitor usage or plan distribution fairly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54864" cy="502920"/>
          </a:xfrm>
          <a:prstGeom prst="rect">
            <a:avLst/>
          </a:prstGeom>
          <a:solidFill>
            <a:srgbClr val="5FCB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demand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97480" y="4937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is outpacing traditional management methods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1691640"/>
            <a:ext cx="4937760" cy="4434840"/>
          </a:xfrm>
          <a:prstGeom prst="roundRect">
            <a:avLst>
              <a:gd name="adj" fmla="val 2062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2468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086600" y="31272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piped water is lost to leaks and unmonitored overuse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363931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086600" y="4297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currently have visibility into daily usage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4809744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086600" y="5468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hit hardest during summer &amp; drought periods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05409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household and community water usage continuously using IoT flow sensors.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6334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&amp; Leak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2584" y="305409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AI/ML models to spot unusual consumption patterns and leakage early.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0496" y="26334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Alerts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40496" y="305409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households automatically when consumption crosses a set limit.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82803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Distribution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24865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village authorities accurate data to plan fair, efficient water allocation.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72584" y="482803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 Behaviour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72584" y="524865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responsible consumption through visibility and feedback.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96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0496" y="482803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&amp; Sustainable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0496" y="524865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low-cost platform that scales across households and villages.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design began, the project team studied the problem, the village context, and the technology options available.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Study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38328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households and gram panchayat records to understand current water access, storage tanks, and pain points.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03580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existing IoT water-metering and smart-city research to identify proven sensor and ML approaches.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84464" y="22860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303580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338328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functional needs: metering, alerts, dashboards, and non-functional needs: low cost, low power, offline resilience.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504748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53949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technical, economic and operational feasibility — sensor cost, connectivity (GSM/Wi-Fi), and maintainability.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16552" y="42976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504748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&amp; Tech Selection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53949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flow sensors, microcontroller (ESP32), cloud/edge platform, and ML libraries for anomaly detection.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84464" y="42976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5632" y="4480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504748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539496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phased plan — preparation, design, implementation, testing — with milestones and a pilot village rollout.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46304" cy="9601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94760" y="169164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/ turbine flow sensors on each household tap or tank line, ESP32/NodeMCU controller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606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FA6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62072"/>
            <a:ext cx="146304" cy="9601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62072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2862072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GSM (GPRS) transmits readings to the cloud at set intervals; buffers data if offline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FA6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32504"/>
            <a:ext cx="146304" cy="960120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032504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4032504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stores time-series usage; ML models detect anomalies, leaks &amp; forecast demand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49469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FA6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02936"/>
            <a:ext cx="146304" cy="960120"/>
          </a:xfrm>
          <a:prstGeom prst="roundRect">
            <a:avLst/>
          </a:prstGeom>
          <a:solidFill>
            <a:srgbClr val="5FCBB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202936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94760" y="5202936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 dashboard for households and authorities; SMS/app alerts on threshold breach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2140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Sensor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54480" y="226771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/ Hall-effect turbine sensor measures litres flowing per household connection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7373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2140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1214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19019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52360" y="226771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NodeMCU reads pulses, timestamps them, and pushes data over Wi-Fi/GSM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67588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75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4564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Supply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54480" y="38221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design with battery + solar backup for areas with unreliable electricity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32918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367588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675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34564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Solenoid Valve (optional)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52360" y="382219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remote/automatic shut-off when usage crosses the authorized limit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23036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30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50109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/ Router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54480" y="537667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readings from nearby households before relaying to the cloud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484632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523036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5230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52360" y="50109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/ Indicator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452360" y="5376672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LED or LCD at the household tap shows live usage and alert status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299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Firmware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(Arduino/ESP-IDF) for sensor sampling &amp; buffering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15184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98064" y="18288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35224" y="20299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35224" y="265176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HTTPS to stream readings to the cloud in real 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64608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47488" y="18288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20299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84648" y="265176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(Flask/FastAPI) + time-series DB (InfluxDB / PostgreSQL)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14032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96912" y="18288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072" y="20299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Data Science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34072" y="265176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 for anomaly detection &amp; consumption forecasting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63456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46336" y="18288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683496" y="20299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83496" y="265176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(React) + mobile alerts for households and village authorities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pulses → firmware converts pulses to litres → reading pushed via MQTT every few minutes → stored in time-series DB → ML model scores each reading for anomalies → dashboard updates &amp; alerts fire when usage exceeds the household's daily limit.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Data Science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turns raw flow readings into early warnings and planning insight.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/ statistical thresholds flag sudden spikes that indicate a leak or burst pipe.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22402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4688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Forecasting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20840" y="313639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 (e.g. ARIMA / regression) predict demand to help plan supply schedules.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4988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45312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 Clustering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are grouped by usage pattern to identify high-usage areas needing intervention.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4224528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44988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445312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Scoring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20840" y="5120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reading is scored against a rolling baseline; scores above a threshold trigger instant alerts.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2377440"/>
            <a:ext cx="1188720" cy="0"/>
          </a:xfrm>
          <a:prstGeom prst="line">
            <a:avLst/>
          </a:prstGeom>
          <a:noFill/>
          <a:ln w="25400">
            <a:solidFill>
              <a:srgbClr val="C7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88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sensors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321868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flow sensors at each household connection &amp; the village overhead tank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2377440"/>
            <a:ext cx="1188720" cy="0"/>
          </a:xfrm>
          <a:prstGeom prst="line">
            <a:avLst/>
          </a:prstGeom>
          <a:noFill/>
          <a:ln w="25400">
            <a:solidFill>
              <a:srgbClr val="C7D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788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edge devices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0" y="321868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ESP32 firmware; set sampling interval &amp; household 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1188720" cy="0"/>
          </a:xfrm>
          <a:prstGeom prst="line">
            <a:avLst/>
          </a:prstGeom>
          <a:noFill/>
          <a:ln w="25400">
            <a:solidFill>
              <a:srgbClr val="C7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788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to cloud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49040" y="321868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MQTT link; verify readings appear in the time-series database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2377440"/>
            <a:ext cx="1188720" cy="0"/>
          </a:xfrm>
          <a:prstGeom prst="line">
            <a:avLst/>
          </a:prstGeom>
          <a:noFill/>
          <a:ln w="25400">
            <a:solidFill>
              <a:srgbClr val="C7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788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baseline model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0" y="321868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2-4 weeks of historical data to set normal-usage baselines per household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3524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83880" y="2377440"/>
            <a:ext cx="1188720" cy="0"/>
          </a:xfrm>
          <a:prstGeom prst="line">
            <a:avLst/>
          </a:prstGeom>
          <a:noFill/>
          <a:ln w="25400">
            <a:solidFill>
              <a:srgbClr val="C7D6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788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dashboard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23760" y="321868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web dashboard to panchayat office and mobile alerts to households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7260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0" y="2788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&amp; iterate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61120" y="3218688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 in one ward, gather feedback, then scale village-wide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Usage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 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300 L daily limit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5394960" cy="256032"/>
          </a:xfrm>
          <a:prstGeom prst="roundRect">
            <a:avLst>
              <a:gd name="adj" fmla="val 21429"/>
            </a:avLst>
          </a:prstGeom>
          <a:solidFill>
            <a:srgbClr val="2C386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840480"/>
            <a:ext cx="3922136" cy="256032"/>
          </a:xfrm>
          <a:prstGeom prst="roundRect">
            <a:avLst>
              <a:gd name="adj" fmla="val 21429"/>
            </a:avLst>
          </a:prstGeom>
          <a:solidFill>
            <a:srgbClr val="5FCBB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4348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C386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Usage trending 18% above weekly average — check taps for leaks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1691640"/>
            <a:ext cx="4892040" cy="4434840"/>
          </a:xfrm>
          <a:prstGeom prst="roundRect">
            <a:avLst>
              <a:gd name="adj" fmla="val 2062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4,120 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292840" y="2542032"/>
            <a:ext cx="219456" cy="219456"/>
          </a:xfrm>
          <a:prstGeom prst="ellipse">
            <a:avLst/>
          </a:prstGeom>
          <a:solidFill>
            <a:srgbClr val="5FCBB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6,850 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292840" y="3319272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3,290 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292840" y="4096512"/>
            <a:ext cx="219456" cy="219456"/>
          </a:xfrm>
          <a:prstGeom prst="ellipse">
            <a:avLst/>
          </a:prstGeom>
          <a:solidFill>
            <a:srgbClr val="5FCBB0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0" y="4754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5,470 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292840" y="4873752"/>
            <a:ext cx="219456" cy="21945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7" name="Text 2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03580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— sensor read, pulse-to-litre conversion, MQTT publish — tested in isolation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19933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63347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72584" y="303580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check: sensor → controller → cloud → dashboard data consistency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19933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0496" y="263347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40496" y="303580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tested under real household conditions across a pilot ward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Testing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23036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compared against manual meter readings to verify measurement error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16552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187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72584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Testing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72584" y="523036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leaks &amp; threshold breaches to confirm alerts fire correctly and on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187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0496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Reliability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40496" y="5230368"/>
            <a:ext cx="3099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households tested for data loss, latency, and uptime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92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830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874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00684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pass rate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60920" y="2862072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29535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006840" y="29535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 vs. manual meter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3941064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4032504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 sec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006840" y="403250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alert latency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5020056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511149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006840" y="511149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 during pilot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5FCBB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Conservation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usage naturally reduces waste and encourages mindful consumption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78308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2057400"/>
            <a:ext cx="548640" cy="548640"/>
          </a:xfrm>
          <a:prstGeom prst="ellipse">
            <a:avLst/>
          </a:prstGeom>
          <a:solidFill>
            <a:srgbClr val="5FCBB0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20391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Leak Detection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720840" y="27432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flagged within minutes instead of going unnoticed for 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5FCBB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Distribution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allocate supply based on real data instead of guesswork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977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17224A"/>
          </a:solidFill>
          <a:ln w="12700">
            <a:solidFill>
              <a:srgbClr val="3140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4251960"/>
            <a:ext cx="548640" cy="548640"/>
          </a:xfrm>
          <a:prstGeom prst="ellipse">
            <a:avLst/>
          </a:prstGeom>
          <a:solidFill>
            <a:srgbClr val="5FCBB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Planning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720840" y="49377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help villages prepare for peak-demand and drought periods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Valve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05409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Auto-shutoff for extreme overuse or confirmed leaks, not just alerts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6334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Solar-Powered Nodes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2584" y="305409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off-grid sensor nodes for remote hamlets with no electricity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19933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0496" y="263347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Sensing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0496" y="305409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sensors to track pH, turbidity and contamination alongside quantity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82803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Cross-Village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24865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data across villages for district-level water resource planning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16552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72584" y="482803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 Programs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72584" y="524865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low-usage households to reinforce conservation behaviour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969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0496" y="482803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0496" y="524865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 pipeline/pump failure before it happens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MONITORING • IoT + AI +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Sensors, Smarter Villages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IoT sensing, AI-driven anomaly detection, and data-backed planning, this system gives villages the visibility they need to conserve water, catch leaks early, and distribute supply fairly — a practical, scalable step toward sustainable rural water management.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194560" cy="0"/>
          </a:xfrm>
          <a:prstGeom prst="line">
            <a:avLst/>
          </a:prstGeom>
          <a:noFill/>
          <a:ln w="31750">
            <a:solidFill>
              <a:srgbClr val="5FCB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2026-07-11T15:33:33Z</dcterms:created>
  <dcterms:modified xsi:type="dcterms:W3CDTF">2026-07-11T15:33:33Z</dcterms:modified>
</cp:coreProperties>
</file>